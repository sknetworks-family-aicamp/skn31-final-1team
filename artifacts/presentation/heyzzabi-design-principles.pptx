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프로젝트 문서와 현재 구현을 바탕으로 요약한 설계 원칙입니다.</a:t>
            </a:r>
          </a:p>
          <a:p>
            <a:r>
              <a:t>근거: backend/meetings/views.py (기획서 승인), backend/meetings/services.py (원문 근거 저장), ai/plan_draft/quality_gate.py (품질 검사), ai/assignee_recommend/agent.py 및 rule_filter.py (담당자 추천과 스케줄 계산).</a:t>
            </a:r>
          </a:p>
          <a:p>
            <a:r>
              <a:t>유의: 회의록 분석을 반드시 별도 선행 단계로 실행한다는 의미는 아닙니다. 현재 웹 경로에서는 회의록 원문을 기획서 생성에 직접 전달합니다. 모든 API의 승인 게이트 완전성을 검증했다는 의미도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567D6"/>
                </a:solidFill>
                <a:latin typeface="맑은 고딕"/>
              </a:defRPr>
            </a:pPr>
            <a:r>
              <a:t>HEY ZZABI  /  DESIGN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5253F"/>
                </a:solidFill>
                <a:latin typeface="맑은 고딕"/>
              </a:defRPr>
            </a:pPr>
            <a:r>
              <a:t>헤이,짜비의 핵심 설계 원칙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08760"/>
            <a:ext cx="11274552" cy="749808"/>
          </a:xfrm>
          <a:prstGeom prst="roundRect">
            <a:avLst>
              <a:gd name="adj" fmla="val 8000"/>
            </a:avLst>
          </a:prstGeom>
          <a:solidFill>
            <a:srgbClr val="15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71907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AI가 반복 업무를 지원하고, 사람은 근거를 확인해 최종 결정합니다.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78608"/>
            <a:ext cx="2093976" cy="2432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2648" y="2770632"/>
            <a:ext cx="438912" cy="365760"/>
          </a:xfrm>
          <a:prstGeom prst="roundRect">
            <a:avLst>
              <a:gd name="adj" fmla="val 8000"/>
            </a:avLst>
          </a:prstGeom>
          <a:solidFill>
            <a:srgbClr val="E9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816352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567D6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319272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5253F"/>
                </a:solidFill>
                <a:latin typeface="맑은 고딕"/>
              </a:defRPr>
            </a:pPr>
            <a:r>
              <a:t>사람의 최종 결정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3822191"/>
            <a:ext cx="183794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52647B"/>
                </a:solidFill>
                <a:latin typeface="맑은 고딕"/>
              </a:defRPr>
            </a:pPr>
            <a:r>
              <a:t>AI 추천과 확정을 구분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52647B"/>
                </a:solidFill>
                <a:latin typeface="맑은 고딕"/>
              </a:defRPr>
            </a:pPr>
            <a:r>
              <a:t>PM이 검토·승인·반려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" y="4581144"/>
            <a:ext cx="1783080" cy="18288"/>
          </a:xfrm>
          <a:prstGeom prst="rect">
            <a:avLst/>
          </a:prstGeom>
          <a:solidFill>
            <a:srgbClr val="DDE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472744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567D6"/>
                </a:solidFill>
                <a:latin typeface="맑은 고딕"/>
              </a:defRPr>
            </a:pPr>
            <a:r>
              <a:t>의사결정 통제권 유지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52344" y="2578608"/>
            <a:ext cx="2093976" cy="2432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07791" y="2770632"/>
            <a:ext cx="438912" cy="365760"/>
          </a:xfrm>
          <a:prstGeom prst="roundRect">
            <a:avLst>
              <a:gd name="adj" fmla="val 8000"/>
            </a:avLst>
          </a:prstGeom>
          <a:solidFill>
            <a:srgbClr val="E9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80944" y="2816352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567D6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7791" y="3319272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5253F"/>
                </a:solidFill>
                <a:latin typeface="맑은 고딕"/>
              </a:defRPr>
            </a:pPr>
            <a:r>
              <a:t>원문 근거 추적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1" y="3822191"/>
            <a:ext cx="183794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52647B"/>
                </a:solidFill>
                <a:latin typeface="맑은 고딕"/>
              </a:defRPr>
            </a:pPr>
            <a:r>
              <a:t>회의록 인용 근거 저장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52647B"/>
                </a:solidFill>
                <a:latin typeface="맑은 고딕"/>
              </a:defRPr>
            </a:pPr>
            <a:r>
              <a:t>생성 문서와 원문 연결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07791" y="4581144"/>
            <a:ext cx="1783080" cy="18288"/>
          </a:xfrm>
          <a:prstGeom prst="rect">
            <a:avLst/>
          </a:prstGeom>
          <a:solidFill>
            <a:srgbClr val="DDE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07791" y="472744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567D6"/>
                </a:solidFill>
                <a:latin typeface="맑은 고딕"/>
              </a:defRPr>
            </a:pPr>
            <a:r>
              <a:t>결과의 출처 확인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47488" y="2578608"/>
            <a:ext cx="2093976" cy="2432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202936" y="2770632"/>
            <a:ext cx="438912" cy="365760"/>
          </a:xfrm>
          <a:prstGeom prst="roundRect">
            <a:avLst>
              <a:gd name="adj" fmla="val 8000"/>
            </a:avLst>
          </a:prstGeom>
          <a:solidFill>
            <a:srgbClr val="E9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76088" y="2816352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567D6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2936" y="3319272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5253F"/>
                </a:solidFill>
                <a:latin typeface="맑은 고딕"/>
              </a:defRPr>
            </a:pPr>
            <a:r>
              <a:t>생성과 검증 분리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02936" y="3822191"/>
            <a:ext cx="183794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52647B"/>
                </a:solidFill>
                <a:latin typeface="맑은 고딕"/>
              </a:defRPr>
            </a:pPr>
            <a:r>
              <a:t>AI가 문서 초안 생성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52647B"/>
                </a:solidFill>
                <a:latin typeface="맑은 고딕"/>
              </a:defRPr>
            </a:pPr>
            <a:r>
              <a:t>코드가 형식·근거 검사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02936" y="4581144"/>
            <a:ext cx="1783080" cy="18288"/>
          </a:xfrm>
          <a:prstGeom prst="rect">
            <a:avLst/>
          </a:prstGeom>
          <a:solidFill>
            <a:srgbClr val="DDE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02936" y="472744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567D6"/>
                </a:solidFill>
                <a:latin typeface="맑은 고딕"/>
              </a:defRPr>
            </a:pPr>
            <a:r>
              <a:t>오류의 후속 전파 억제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42631" y="2578608"/>
            <a:ext cx="2093976" cy="2432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98079" y="2770632"/>
            <a:ext cx="438912" cy="365760"/>
          </a:xfrm>
          <a:prstGeom prst="roundRect">
            <a:avLst>
              <a:gd name="adj" fmla="val 8000"/>
            </a:avLst>
          </a:prstGeom>
          <a:solidFill>
            <a:srgbClr val="E9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71231" y="2816352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567D6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3319272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5253F"/>
                </a:solidFill>
                <a:latin typeface="맑은 고딕"/>
              </a:defRPr>
            </a:pPr>
            <a:r>
              <a:t>AI와 규칙의 분업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822191"/>
            <a:ext cx="183794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52647B"/>
                </a:solidFill>
                <a:latin typeface="맑은 고딕"/>
              </a:defRPr>
            </a:pPr>
            <a:r>
              <a:t>AI는 적합도 평가·설명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52647B"/>
                </a:solidFill>
                <a:latin typeface="맑은 고딕"/>
              </a:defRPr>
            </a:pPr>
            <a:r>
              <a:t>코드는 일정·가용량 계산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79" y="4581144"/>
            <a:ext cx="1783080" cy="18288"/>
          </a:xfrm>
          <a:prstGeom prst="rect">
            <a:avLst/>
          </a:prstGeom>
          <a:solidFill>
            <a:srgbClr val="DDE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79" y="472744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567D6"/>
                </a:solidFill>
                <a:latin typeface="맑은 고딕"/>
              </a:defRPr>
            </a:pPr>
            <a:r>
              <a:t>유연한 판단 + 일관된 계산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37776" y="2578608"/>
            <a:ext cx="2093976" cy="2432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793224" y="2770632"/>
            <a:ext cx="438912" cy="365760"/>
          </a:xfrm>
          <a:prstGeom prst="roundRect">
            <a:avLst>
              <a:gd name="adj" fmla="val 8000"/>
            </a:avLst>
          </a:prstGeom>
          <a:solidFill>
            <a:srgbClr val="E9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66376" y="2816352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567D6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93224" y="3319272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5253F"/>
                </a:solidFill>
                <a:latin typeface="맑은 고딕"/>
              </a:defRPr>
            </a:pPr>
            <a:r>
              <a:t>단계별 책임 분리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93224" y="3822191"/>
            <a:ext cx="183794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52647B"/>
                </a:solidFill>
                <a:latin typeface="맑은 고딕"/>
              </a:defRPr>
            </a:pPr>
            <a:r>
              <a:t>기능별 모듈을 분리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52647B"/>
                </a:solidFill>
                <a:latin typeface="맑은 고딕"/>
              </a:defRPr>
            </a:pPr>
            <a:r>
              <a:t>이전 산출물을 다음 입력으로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93224" y="4581144"/>
            <a:ext cx="1783080" cy="18288"/>
          </a:xfrm>
          <a:prstGeom prst="rect">
            <a:avLst/>
          </a:prstGeom>
          <a:solidFill>
            <a:srgbClr val="DDE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93224" y="472744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567D6"/>
                </a:solidFill>
                <a:latin typeface="맑은 고딕"/>
              </a:defRPr>
            </a:pPr>
            <a:r>
              <a:t>단계별 개선·검증 용이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" y="53766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647B"/>
                </a:solidFill>
                <a:latin typeface="맑은 고딕"/>
              </a:defRPr>
            </a:pPr>
            <a:r>
              <a:t>업무 연결 흐름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" y="5797296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5253F"/>
                </a:solidFill>
                <a:latin typeface="맑은 고딕"/>
              </a:defRPr>
            </a:pPr>
            <a:r>
              <a:t>회의록   →   기획서   →   요구사항   →   업무 생성   →   담당자 추천·확정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" y="638251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7992"/>
                </a:solidFill>
                <a:latin typeface="맑은 고딕"/>
              </a:defRPr>
            </a:pPr>
            <a:r>
              <a:t>주요 산출물은 사람의 검토를 거쳐 다음 단계로 연결합니다.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01400" y="63733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7992"/>
                </a:solidFill>
                <a:latin typeface="맑은 고딕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